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Transport Layer Protocol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UDP, TCP, dan SCTP | IKH6304 Jaringan Komputer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Nama: Kahlil Gibran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NIM: 064002100002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Topik dipilih berdasarkan angka terakhir NIM: 2</a:t>
            </a:r>
          </a:p>
        </p:txBody>
      </p:sp>
      <p:sp>
        <p:nvSpPr>
          <p:cNvPr id="9" name="Box 9"/>
          <p:cNvSpPr/>
          <p:nvPr/>
        </p:nvSpPr>
        <p:spPr>
          <a:xfrm>
            <a:off x="731520" y="2148840"/>
            <a:ext cx="32918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868680" y="235915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id-ID" sz="2400" b="1">
                <a:solidFill>
                  <a:srgbClr val="0F766E"/>
                </a:solidFill>
                <a:latin typeface="Aptos"/>
              </a:rPr>
              <a:t>UDP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32688" y="278892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id-ID" sz="1300" b="0">
                <a:solidFill>
                  <a:srgbClr val="334155"/>
                </a:solidFill>
                <a:latin typeface="Aptos"/>
              </a:rPr>
              <a:t>Cepat, ringan, tanpa koneksi</a:t>
            </a:r>
          </a:p>
        </p:txBody>
      </p:sp>
      <p:sp>
        <p:nvSpPr>
          <p:cNvPr id="12" name="Box 12"/>
          <p:cNvSpPr/>
          <p:nvPr/>
        </p:nvSpPr>
        <p:spPr>
          <a:xfrm>
            <a:off x="4480559" y="2148840"/>
            <a:ext cx="32918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4617720" y="235915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id-ID" sz="2400" b="1">
                <a:solidFill>
                  <a:srgbClr val="2563EB"/>
                </a:solidFill>
                <a:latin typeface="Aptos"/>
              </a:rPr>
              <a:t>TCP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4681727" y="278892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id-ID" sz="1300" b="0">
                <a:solidFill>
                  <a:srgbClr val="334155"/>
                </a:solidFill>
                <a:latin typeface="Aptos"/>
              </a:rPr>
              <a:t>Andal, berurutan, byte stream</a:t>
            </a:r>
          </a:p>
        </p:txBody>
      </p:sp>
      <p:sp>
        <p:nvSpPr>
          <p:cNvPr id="15" name="Box 15"/>
          <p:cNvSpPr/>
          <p:nvPr/>
        </p:nvSpPr>
        <p:spPr>
          <a:xfrm>
            <a:off x="8229600" y="2148840"/>
            <a:ext cx="329184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8366760" y="235915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id-ID" sz="2400" b="1">
                <a:solidFill>
                  <a:srgbClr val="F59E0B"/>
                </a:solidFill>
                <a:latin typeface="Aptos"/>
              </a:rPr>
              <a:t>SCTP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430768" y="278892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"/>
            <a:r>
              <a:rPr lang="id-ID" sz="1300" b="0">
                <a:solidFill>
                  <a:srgbClr val="334155"/>
                </a:solidFill>
                <a:latin typeface="Aptos"/>
              </a:rPr>
              <a:t>Andal, message + multistream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Peran Lapisan Transport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Menghubungkan aplikasi dengan layanan jaringan IP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Multiplexing dan demultiplexing melalui port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Segmentasi data aplikasi menjadi unit transport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Reliabilitas, urutan, flow control, dan congestion control sesuai protokol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77240" y="3118104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Pilihan protokol ditentukan oleh kebutuhan aplikasi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UDP: Datagram Sederhana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RFC 768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Tanpa koneksi dan tidak menyimpan status sesi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Header kecil: source port, destination port, length, checksum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Tidak menjamin paket sampai atau berurutan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77240" y="3118104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Cocok untuk DNS, VoIP, game online, dan streaming tertentu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TCP: Reliable Byte Stream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RFC 9293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Membangun koneksi dengan three-way handshake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Sequence number, ACK, retransmisi, dan checksum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Flow control memakai receive window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77240" y="3118104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Cocok untuk web, SSH, email, dan transfer file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SCTP: Reliable Message Transport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RFC 9260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Berbasis asosiasi dan mempertahankan batas pesan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Four-way handshake dengan cookie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Multistreaming mengurangi blocking antarstream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77240" y="3118104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Multihoming memberi jalur alternatif saat alamat utama gagal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Perbandingan Inti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Tidak ada protokol yang selalu paling baik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UDP: latensi rendah, overhead kecil, reliabilitas ditangani aplikasi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TCP: paling umum, andal, tetapi dapat mengalami head-of-line blocking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SCTP: fitur kaya, tetapi dukungan jaringan dan aplikasi lebih terbatas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Cara Memilih Protokol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Keputusan mengikuti kebutuhan aplikasi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Pilih UDP untuk transaksi cepat atau aplikasi real-time yang toleran kehilangan paket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Pilih TCP untuk data yang harus lengkap, utuh, dan kompatibel luas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Pilih SCTP untuk pesan andal, beberapa stream, dan kebutuhan failover alamat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Aspek Keamanan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Checksum bukan pengganti keamanan kriptografis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UDP perlu rate limiting untuk mencegah refleksi/amplifikasi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TCP perlu mitigasi SYN flooding dan konfigurasi layanan yang aman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SCTP memakai cookie untuk mengurangi konsumsi resource awal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77240" y="3118104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Gunakan TLS, DTLS, IPsec, atau keamanan aplikasi untuk data sensitif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Kesimpulan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UDP, TCP, dan SCTP melayani kebutuhan transport yang berbeda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UDP unggul dalam kesederhanaan dan latensi rendah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TCP unggul dalam reliabilitas dan dukungan ekosistem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SCTP menawarkan message reliability, multistreaming, dan multihoming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77240" y="3118104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Pemilihan protokol harus berdasarkan kebutuhan teknis aplikasi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" name="Box 3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2900" b="1">
                <a:solidFill>
                  <a:srgbClr val="0F172A"/>
                </a:solidFill>
                <a:latin typeface="Aptos"/>
              </a:rPr>
              <a:t>Referensi Utama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877824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400" b="0">
                <a:solidFill>
                  <a:srgbClr val="475569"/>
                </a:solidFill>
                <a:latin typeface="Aptos"/>
              </a:rPr>
              <a:t>Format IEEE pada naskah lengkap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77240" y="14173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RFC 768 - User Datagram Protocol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77240" y="1984248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RFC 9293 - Transmission Control Protocol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7240" y="2551176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RFC 9260 - Stream Control Transmission Protocol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77240" y="3118104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id-ID" sz="1700" b="0">
                <a:solidFill>
                  <a:srgbClr val="334155"/>
                </a:solidFill>
                <a:latin typeface="Aptos"/>
              </a:rPr>
              <a:t>- RFC 8085 - UDP Usage Guidelines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555480" y="6446520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id-ID" sz="700" b="0">
                <a:solidFill>
                  <a:srgbClr val="64748B"/>
                </a:solidFill>
                <a:latin typeface="Aptos"/>
              </a:rPr>
              <a:t>Kahlil Gibran | 064002100002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nsportTheme">
  <a:themeElements>
    <a:clrScheme name="Transport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0F766E"/>
      </a:accent1>
      <a:accent2>
        <a:srgbClr val="F59E0B"/>
      </a:accent2>
      <a:accent3>
        <a:srgbClr val="2563EB"/>
      </a:accent3>
      <a:accent4>
        <a:srgbClr val="DC2626"/>
      </a:accent4>
      <a:accent5>
        <a:srgbClr val="7C3AED"/>
      </a:accent5>
      <a:accent6>
        <a:srgbClr val="64748B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